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 in Brake Caliper Supply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15%+ cost-down target amid inflationary input costs and tight capacity.</a:t>
            </a:r>
          </a:p>
          <a:p>
            <a:pPr/>
            <a:r>
              <a:t>Geopolitical volatility (USMCA compliance, Section 301 tariffs, CBAM fees) reshaping landed cost baselines.</a:t>
            </a:r>
          </a:p>
          <a:p>
            <a:pPr/>
            <a:r>
              <a:t>Fragmented supplier footprint complicates logistics, PPAP timing, and quality alignment across regions.</a:t>
            </a:r>
          </a:p>
          <a:p>
            <a:pPr/>
            <a:r>
              <a:t>Technology readiness gaps for brake-by-wire, smart sensing, and copper-free systems increase validation load.</a:t>
            </a:r>
          </a:p>
          <a:p>
            <a:pPr/>
            <a:r>
              <a:t>Premium freight and inventory buffers erode working capital while Ford seeks tighter delivery windows.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Contract-Led Solutions &amp;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Sequence joint productivity roadmap milestones with VA/VE, automation, and packaging upgrades baked into contracts.</a:t>
            </a:r>
          </a:p>
          <a:p>
            <a:pPr/>
            <a:r>
              <a:t>Deploy capital co-investment clauses for casting automation and in-line inspection tied to OEE &amp; scrap KPIs.</a:t>
            </a:r>
          </a:p>
          <a:p>
            <a:pPr/>
            <a:r>
              <a:t>Adopt open-book cost baselines with indexed raw-material clauses to reset pricing each quarter.</a:t>
            </a:r>
          </a:p>
          <a:p>
            <a:pPr/>
            <a:r>
              <a:t>Implement performance rebates/penalties (1–2% of annual value) and volume/mix protection to stabilize supply.</a:t>
            </a:r>
          </a:p>
          <a:p>
            <a:pPr/>
            <a:r>
              <a:t>Launch Phase 2A agile tech sprints with suppliers to evaluate EMB, smart calipers, lightweight monoblocs, and copper-free friction.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Impact on Cost, Efficiency &amp; Customer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Joint roadmap + capital clauses forecast 15–17% unit cost reduction once automation and VA/VE savings flow.</a:t>
            </a:r>
          </a:p>
          <a:p>
            <a:pPr/>
            <a:r>
              <a:t>Regionalized finishing, milk-runs, and reusable packaging deliver 8–12% freight savings and $0.20–0.30 per unit packaging reduction.</a:t>
            </a:r>
          </a:p>
          <a:p>
            <a:pPr/>
            <a:r>
              <a:t>Indexed pricing and tariff triggers protect margins against 25% Section 301 surcharges and CBAM carbon fees.</a:t>
            </a:r>
          </a:p>
          <a:p>
            <a:pPr/>
            <a:r>
              <a:t>Performance governance lifts OTIF to &gt;98% and cuts premium freight events by ~50%, boosting Ford plant satisfaction.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Supplier Footprint &amp; Supporting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 shows 15 Ford caliper supplier sites clustered in NA/EU/APAC, highlighting dual-source resilience.</a:t>
            </a:r>
          </a:p>
          <a:p>
            <a:pPr/>
            <a:r>
              <a:t>Largest volumes: ZF TRW (Poland/Mexico), Continental (Germany/Mexico/China), Brembo (US/Italy/Mexico).</a:t>
            </a:r>
          </a:p>
          <a:p>
            <a:pPr/>
            <a:r>
              <a:t>Map data sourced from 2025 supplier landscape analysis; see additional information for detailed tables.</a:t>
            </a:r>
          </a:p>
        </p:txBody>
      </p:sp>
      <p:pic>
        <p:nvPicPr>
          <p:cNvPr id="4" name="Picture 3" descr="ford-brake-caliper-suppliers-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0"/>
            <a:ext cx="7772400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Additional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Detailed supplier ranking tables (Ford vs. other OEM suppliers with plant locations and notes).</a:t>
            </a:r>
          </a:p>
          <a:p>
            <a:pPr/>
            <a:r>
              <a:t>New brake caliper technology evaluation backlog covering EMB, smart sensing, lightweight monobloc, copper-free friction, EPB units.</a:t>
            </a:r>
          </a:p>
          <a:p>
            <a:pPr/>
            <a:r>
              <a:t>Geopolitical &amp; tariff matrix (USMCA, Section 301, CBAM, Russia/Ukraine, Mexico energy, China mineral controls, India duties, FX).</a:t>
            </a:r>
          </a:p>
          <a:p>
            <a:pPr/>
            <a:r>
              <a:t>Tariff management checklist for HS 870830/870839, bonded warehousing, origin certificates, and 25% escalation scenarios.</a:t>
            </a:r>
          </a:p>
          <a:p>
            <a:pPr/>
            <a:r>
              <a:t>Interactive folium map available at ford-brake-caliper-suppliers-map.html for deeper site-by-site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